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6" r:id="rId17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0"/>
            <a:ext cx="2404872" cy="201168"/>
          </a:xfrm>
          <a:prstGeom prst="rect">
            <a:avLst/>
          </a:prstGeom>
          <a:solidFill>
            <a:srgbClr val="EF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132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800" b="1">
                <a:solidFill>
                  <a:srgbClr val="112B3C"/>
                </a:solidFill>
                <a:latin typeface="Arial"/>
              </a:rPr>
              <a:t>Bike Sharing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6858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0">
                <a:solidFill>
                  <a:srgbClr val="596670"/>
                </a:solidFill>
                <a:latin typeface="Arial"/>
              </a:rPr>
              <a:t>Requirement Analysis: Use-Case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14600"/>
            <a:ext cx="7498079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>
                <a:solidFill>
                  <a:srgbClr val="112B3C"/>
                </a:solidFill>
                <a:latin typeface="Arial"/>
              </a:rPr>
              <a:t>Mô hình thuê xe đạp đô thị: ví trả trước, gói ngày/tháng, thuê theo giờ, trừ tiền sau chuyến và xử lý phạt vi phạm.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977639"/>
            <a:ext cx="1965960" cy="438912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Verified account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3977639"/>
            <a:ext cx="1737360" cy="438912"/>
          </a:xfrm>
          <a:prstGeom prst="roundRect">
            <a:avLst/>
          </a:prstGeom>
          <a:solidFill>
            <a:srgbClr val="2A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Wallet /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3977639"/>
            <a:ext cx="1554480" cy="438912"/>
          </a:xfrm>
          <a:prstGeom prst="roundRect">
            <a:avLst/>
          </a:prstGeom>
          <a:solidFill>
            <a:srgbClr val="2C9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Hourly ride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977639"/>
            <a:ext cx="1737360" cy="438912"/>
          </a:xfrm>
          <a:prstGeom prst="roundRect">
            <a:avLst/>
          </a:prstGeom>
          <a:solidFill>
            <a:srgbClr val="EF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Penalty rules</a:t>
            </a:r>
          </a:p>
        </p:txBody>
      </p:sp>
      <p:sp>
        <p:nvSpPr>
          <p:cNvPr id="12" name="Oval 11"/>
          <p:cNvSpPr/>
          <p:nvPr/>
        </p:nvSpPr>
        <p:spPr>
          <a:xfrm>
            <a:off x="9509760" y="4206240"/>
            <a:ext cx="914400" cy="914400"/>
          </a:xfrm>
          <a:prstGeom prst="ellipse">
            <a:avLst/>
          </a:prstGeom>
          <a:noFill/>
          <a:ln w="508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81360" y="4206240"/>
            <a:ext cx="914400" cy="914400"/>
          </a:xfrm>
          <a:prstGeom prst="ellipse">
            <a:avLst/>
          </a:prstGeom>
          <a:noFill/>
          <a:ln w="50800">
            <a:solidFill>
              <a:srgbClr val="EF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9966960" y="3611880"/>
            <a:ext cx="685800" cy="1051560"/>
          </a:xfrm>
          <a:prstGeom prst="line">
            <a:avLst/>
          </a:prstGeom>
          <a:ln w="17780">
            <a:solidFill>
              <a:srgbClr val="96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0652760" y="3611880"/>
            <a:ext cx="685800" cy="1051560"/>
          </a:xfrm>
          <a:prstGeom prst="line">
            <a:avLst/>
          </a:prstGeom>
          <a:ln w="17780">
            <a:solidFill>
              <a:srgbClr val="96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66960" y="4663440"/>
            <a:ext cx="1371600" cy="0"/>
          </a:xfrm>
          <a:prstGeom prst="line">
            <a:avLst/>
          </a:prstGeom>
          <a:ln w="17780">
            <a:solidFill>
              <a:srgbClr val="96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603504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96670"/>
                </a:solidFill>
                <a:latin typeface="Arial"/>
              </a:rPr>
              <a:t>SE Project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0"/>
            <a:ext cx="2404872" cy="201168"/>
          </a:xfrm>
          <a:prstGeom prst="rect">
            <a:avLst/>
          </a:prstGeom>
          <a:solidFill>
            <a:srgbClr val="EF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2B3C"/>
                </a:solidFill>
                <a:latin typeface="Arial"/>
              </a:rPr>
              <a:t>Product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896112"/>
            <a:ext cx="8686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96670"/>
                </a:solidFill>
                <a:latin typeface="Arial"/>
              </a:rPr>
              <a:t>Luồng tiền và thuê xe giống hệ thống đô thị trả trước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98448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251460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91640"/>
            <a:ext cx="2514600" cy="1097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92808"/>
            <a:ext cx="211226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1. Before ride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20574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Xác thực tài khoản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Nạp ví hoặc mua gói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Không có nợ/phạt chặn thuê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91640"/>
            <a:ext cx="251460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691640"/>
            <a:ext cx="2514600" cy="109728"/>
          </a:xfrm>
          <a:prstGeom prst="rect">
            <a:avLst/>
          </a:prstGeom>
          <a:solidFill>
            <a:srgbClr val="2A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1892808"/>
            <a:ext cx="211226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2. During ride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377440"/>
            <a:ext cx="20574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Tìm xe/trạm hợp lệ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Mở khóa xe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Theo dõi thời gian thuê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691640"/>
            <a:ext cx="251460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1691640"/>
            <a:ext cx="2514600" cy="109728"/>
          </a:xfrm>
          <a:prstGeom prst="rect">
            <a:avLst/>
          </a:prstGeom>
          <a:solidFill>
            <a:srgbClr val="2C9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1892808"/>
            <a:ext cx="211226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3. End 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77440"/>
            <a:ext cx="20574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Khóa xe và trả đúng nơi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Tính phí theo giờ/gói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Trừ tiền trong ví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691640"/>
            <a:ext cx="251460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1691640"/>
            <a:ext cx="2514600" cy="109728"/>
          </a:xfrm>
          <a:prstGeom prst="rect">
            <a:avLst/>
          </a:prstGeom>
          <a:solidFill>
            <a:srgbClr val="EF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5128" y="1892808"/>
            <a:ext cx="211226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4. Violations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377440"/>
            <a:ext cx="20574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Sai khu vực trả xe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Không khóa xe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Hư hỏng/mất xe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Phạt không được gói miễn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9232" y="2880360"/>
            <a:ext cx="320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596670"/>
                </a:solidFill>
                <a:latin typeface="Arial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2432" y="2880360"/>
            <a:ext cx="320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596670"/>
                </a:solidFill>
                <a:latin typeface="Arial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2880360"/>
            <a:ext cx="320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596670"/>
                </a:solidFill>
                <a:latin typeface="Arial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0"/>
            <a:ext cx="2404872" cy="201168"/>
          </a:xfrm>
          <a:prstGeom prst="rect">
            <a:avLst/>
          </a:prstGeom>
          <a:solidFill>
            <a:srgbClr val="EF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2B3C"/>
                </a:solidFill>
                <a:latin typeface="Arial"/>
              </a:rPr>
              <a:t>System Boundary and 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896112"/>
            <a:ext cx="8686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96670"/>
                </a:solidFill>
                <a:latin typeface="Arial"/>
              </a:rPr>
              <a:t>Chỉ actor và use case; không đưa front-end, back-end hoặc database làm actor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98448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24612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3246120" cy="1097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92808"/>
            <a:ext cx="284378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7440"/>
            <a:ext cx="27889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Xác thực, nạp ví, mua gói, thuê xe, kết thúc chuyến, báo sự cố.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24612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3246120" cy="109728"/>
          </a:xfrm>
          <a:prstGeom prst="rect">
            <a:avLst/>
          </a:prstGeom>
          <a:solidFill>
            <a:srgbClr val="2A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892808"/>
            <a:ext cx="284378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Admin / Operator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77440"/>
            <a:ext cx="27889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Quản lý vận hành, quy tắc, mức phạt, phân công bảo trì.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691640"/>
            <a:ext cx="324612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9" y="1691640"/>
            <a:ext cx="3246120" cy="109728"/>
          </a:xfrm>
          <a:prstGeom prst="rect">
            <a:avLst/>
          </a:prstGeom>
          <a:solidFill>
            <a:srgbClr val="2C9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1892808"/>
            <a:ext cx="284378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Maintenance Staff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2377440"/>
            <a:ext cx="27889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Kiểm tra, sửa chữa, cập nhật trạng thái xe.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324612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566160"/>
            <a:ext cx="3246120" cy="109728"/>
          </a:xfrm>
          <a:prstGeom prst="rect">
            <a:avLst/>
          </a:prstGeom>
          <a:solidFill>
            <a:srgbClr val="EF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767328"/>
            <a:ext cx="284378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GPS / Map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51960"/>
            <a:ext cx="27889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Cung cấp vị trí và trạm hợp lệ khi thuê xe.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566160"/>
            <a:ext cx="324612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566160"/>
            <a:ext cx="3246120" cy="109728"/>
          </a:xfrm>
          <a:prstGeom prst="rect">
            <a:avLst/>
          </a:prstGeom>
          <a:solidFill>
            <a:srgbClr val="C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767328"/>
            <a:ext cx="284378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Payment Gateway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251960"/>
            <a:ext cx="27889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Xử lý nạp ví và mua gói.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715000"/>
            <a:ext cx="4206240" cy="411480"/>
          </a:xfrm>
          <a:prstGeom prst="round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 actors: front-end • back-end •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0"/>
            <a:ext cx="2404872" cy="201168"/>
          </a:xfrm>
          <a:prstGeom prst="rect">
            <a:avLst/>
          </a:prstGeom>
          <a:solidFill>
            <a:srgbClr val="EF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2B3C"/>
                </a:solidFill>
                <a:latin typeface="Arial"/>
              </a:rPr>
              <a:t>Use-Case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896112"/>
            <a:ext cx="8686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96670"/>
                </a:solidFill>
                <a:latin typeface="Arial"/>
              </a:rPr>
              <a:t>5 use cases trọng tâm cho phần trình bày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98448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0" y="1463040"/>
            <a:ext cx="8046720" cy="4480560"/>
          </a:xfrm>
          <a:prstGeom prst="rect">
            <a:avLst/>
          </a:prstGeom>
          <a:noFill/>
          <a:ln w="17780">
            <a:solidFill>
              <a:srgbClr val="2A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6187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1">
                <a:solidFill>
                  <a:srgbClr val="2A66B2"/>
                </a:solidFill>
                <a:latin typeface="Arial"/>
              </a:rPr>
              <a:t>Bike Sharing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80360"/>
            <a:ext cx="1325880" cy="5029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2A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2A66B2"/>
                </a:solidFill>
                <a:latin typeface="Arial"/>
              </a:rPr>
              <a:t>Customer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1325880" cy="5029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2A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2A66B2"/>
                </a:solidFill>
                <a:latin typeface="Arial"/>
              </a:rPr>
              <a:t>Admin / Operator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4892040"/>
            <a:ext cx="1325880" cy="5029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2A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2A66B2"/>
                </a:solidFill>
                <a:latin typeface="Arial"/>
              </a:rPr>
              <a:t>Maintenance Staff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0" y="2880360"/>
            <a:ext cx="1325880" cy="5029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2A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2A66B2"/>
                </a:solidFill>
                <a:latin typeface="Arial"/>
              </a:rPr>
              <a:t>GPS / Map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0" y="1691640"/>
            <a:ext cx="1325880" cy="5029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2A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2A66B2"/>
                </a:solidFill>
                <a:latin typeface="Arial"/>
              </a:rPr>
              <a:t>Payment Gateway</a:t>
            </a:r>
          </a:p>
        </p:txBody>
      </p:sp>
      <p:sp>
        <p:nvSpPr>
          <p:cNvPr id="15" name="Oval 14"/>
          <p:cNvSpPr/>
          <p:nvPr/>
        </p:nvSpPr>
        <p:spPr>
          <a:xfrm>
            <a:off x="2560320" y="1828800"/>
            <a:ext cx="2240280" cy="868680"/>
          </a:xfrm>
          <a:prstGeom prst="ellipse">
            <a:avLst/>
          </a:prstGeom>
          <a:solidFill>
            <a:srgbClr val="E1F6F1"/>
          </a:solidFill>
          <a:ln w="19050">
            <a:solidFill>
              <a:srgbClr val="2C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112B3C"/>
                </a:solidFill>
                <a:latin typeface="Arial"/>
              </a:rPr>
              <a:t>UC001
Register and
Verify Account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0" y="1828800"/>
            <a:ext cx="2331720" cy="868680"/>
          </a:xfrm>
          <a:prstGeom prst="ellipse">
            <a:avLst/>
          </a:prstGeom>
          <a:solidFill>
            <a:srgbClr val="E1F6F1"/>
          </a:solidFill>
          <a:ln w="19050">
            <a:solidFill>
              <a:srgbClr val="2C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112B3C"/>
                </a:solidFill>
                <a:latin typeface="Arial"/>
              </a:rPr>
              <a:t>UC002
Manage Wallet and
Rental Packages</a:t>
            </a:r>
          </a:p>
        </p:txBody>
      </p:sp>
      <p:sp>
        <p:nvSpPr>
          <p:cNvPr id="17" name="Oval 16"/>
          <p:cNvSpPr/>
          <p:nvPr/>
        </p:nvSpPr>
        <p:spPr>
          <a:xfrm>
            <a:off x="2560320" y="3749039"/>
            <a:ext cx="2240280" cy="777240"/>
          </a:xfrm>
          <a:prstGeom prst="ellipse">
            <a:avLst/>
          </a:prstGeom>
          <a:solidFill>
            <a:srgbClr val="E1F6F1"/>
          </a:solidFill>
          <a:ln w="19050">
            <a:solidFill>
              <a:srgbClr val="2C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112B3C"/>
                </a:solidFill>
                <a:latin typeface="Arial"/>
              </a:rPr>
              <a:t>UC003
Rent Bike by Hour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3749039"/>
            <a:ext cx="2331720" cy="868680"/>
          </a:xfrm>
          <a:prstGeom prst="ellipse">
            <a:avLst/>
          </a:prstGeom>
          <a:solidFill>
            <a:srgbClr val="E1F6F1"/>
          </a:solidFill>
          <a:ln w="19050">
            <a:solidFill>
              <a:srgbClr val="2C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112B3C"/>
                </a:solidFill>
                <a:latin typeface="Arial"/>
              </a:rPr>
              <a:t>UC004
End Ride and
Settle Charges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4983480"/>
            <a:ext cx="2423160" cy="868680"/>
          </a:xfrm>
          <a:prstGeom prst="ellipse">
            <a:avLst/>
          </a:prstGeom>
          <a:solidFill>
            <a:srgbClr val="E1F6F1"/>
          </a:solidFill>
          <a:ln w="19050">
            <a:solidFill>
              <a:srgbClr val="2C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112B3C"/>
                </a:solidFill>
                <a:latin typeface="Arial"/>
              </a:rPr>
              <a:t>UC005
Resolve Bike
Maintenance Request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828800" y="2240280"/>
            <a:ext cx="731520" cy="886968"/>
          </a:xfrm>
          <a:prstGeom prst="line">
            <a:avLst/>
          </a:prstGeom>
          <a:ln w="17780">
            <a:solidFill>
              <a:srgbClr val="96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828800" y="2240280"/>
            <a:ext cx="4754880" cy="886968"/>
          </a:xfrm>
          <a:prstGeom prst="line">
            <a:avLst/>
          </a:prstGeom>
          <a:ln w="17780">
            <a:solidFill>
              <a:srgbClr val="96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3127248"/>
            <a:ext cx="731520" cy="987552"/>
          </a:xfrm>
          <a:prstGeom prst="line">
            <a:avLst/>
          </a:prstGeom>
          <a:ln w="17780">
            <a:solidFill>
              <a:srgbClr val="96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0" y="3127248"/>
            <a:ext cx="4754880" cy="1033272"/>
          </a:xfrm>
          <a:prstGeom prst="line">
            <a:avLst/>
          </a:prstGeom>
          <a:ln w="17780">
            <a:solidFill>
              <a:srgbClr val="96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915400" y="1965960"/>
            <a:ext cx="1371600" cy="274320"/>
          </a:xfrm>
          <a:prstGeom prst="line">
            <a:avLst/>
          </a:prstGeom>
          <a:ln w="17780">
            <a:solidFill>
              <a:srgbClr val="96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915400" y="3154680"/>
            <a:ext cx="1371600" cy="1005840"/>
          </a:xfrm>
          <a:prstGeom prst="line">
            <a:avLst/>
          </a:prstGeom>
          <a:ln w="17780">
            <a:solidFill>
              <a:srgbClr val="96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0" y="5166360"/>
            <a:ext cx="2743200" cy="228600"/>
          </a:xfrm>
          <a:prstGeom prst="line">
            <a:avLst/>
          </a:prstGeom>
          <a:ln w="17780">
            <a:solidFill>
              <a:srgbClr val="96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995160" y="5166360"/>
            <a:ext cx="3291840" cy="228600"/>
          </a:xfrm>
          <a:prstGeom prst="line">
            <a:avLst/>
          </a:prstGeom>
          <a:ln w="17780">
            <a:solidFill>
              <a:srgbClr val="96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0"/>
            <a:ext cx="2404872" cy="201168"/>
          </a:xfrm>
          <a:prstGeom prst="rect">
            <a:avLst/>
          </a:prstGeom>
          <a:solidFill>
            <a:srgbClr val="EF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2B3C"/>
                </a:solidFill>
                <a:latin typeface="Arial"/>
              </a:rPr>
              <a:t>Relational Schema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896112"/>
            <a:ext cx="8686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96670"/>
                </a:solidFill>
                <a:latin typeface="Arial"/>
              </a:rPr>
              <a:t>Các bảng hỗ trợ ví, gói, tính phí và phạt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98448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2103120" cy="41148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Verified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63040"/>
            <a:ext cx="80467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112B3C"/>
                </a:solidFill>
                <a:latin typeface="Arial"/>
              </a:rPr>
              <a:t>USERS, CUSTOMER_PROFILES, STAFF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30552"/>
            <a:ext cx="2103120" cy="411480"/>
          </a:xfrm>
          <a:prstGeom prst="roundRect">
            <a:avLst/>
          </a:prstGeom>
          <a:solidFill>
            <a:srgbClr val="2A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Wallet / package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176272"/>
            <a:ext cx="80467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112B3C"/>
                </a:solidFill>
                <a:latin typeface="Arial"/>
              </a:rPr>
              <a:t>WALLETS, WALLET_TRANSACTIONS, RENTAL_PACKAGES, CUSTOMER_PACKAGES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43784"/>
            <a:ext cx="2103120" cy="411480"/>
          </a:xfrm>
          <a:prstGeom prst="roundRect">
            <a:avLst/>
          </a:prstGeom>
          <a:solidFill>
            <a:srgbClr val="2C9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889504"/>
            <a:ext cx="80467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112B3C"/>
                </a:solidFill>
                <a:latin typeface="Arial"/>
              </a:rPr>
              <a:t>WALLET_TRANSACTIONS 1–0..1 PAYMENTS for top-up/package purchase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57015"/>
            <a:ext cx="2103120" cy="411480"/>
          </a:xfrm>
          <a:prstGeom prst="roundRect">
            <a:avLst/>
          </a:prstGeom>
          <a:solidFill>
            <a:srgbClr val="EF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Ride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602735"/>
            <a:ext cx="80467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112B3C"/>
                </a:solidFill>
                <a:latin typeface="Arial"/>
              </a:rPr>
              <a:t>STATIONS, BIKES, BIKE_LOCKS, RIDES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70248"/>
            <a:ext cx="2103120" cy="411480"/>
          </a:xfrm>
          <a:prstGeom prst="roundRect">
            <a:avLst/>
          </a:prstGeom>
          <a:solidFill>
            <a:srgbClr val="C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Settlement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315968"/>
            <a:ext cx="80467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112B3C"/>
                </a:solidFill>
                <a:latin typeface="Arial"/>
              </a:rPr>
              <a:t>RIDE_CHARGES, PENALTY_RULES, PENALTIES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83480"/>
            <a:ext cx="2103120" cy="411480"/>
          </a:xfrm>
          <a:prstGeom prst="round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Maintenance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5029200"/>
            <a:ext cx="80467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112B3C"/>
                </a:solidFill>
                <a:latin typeface="Arial"/>
              </a:rPr>
              <a:t>ISSUE_REPORTS feed MAINTENANCE_REQUESTS assigned to STAFF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0"/>
            <a:ext cx="2404872" cy="201168"/>
          </a:xfrm>
          <a:prstGeom prst="rect">
            <a:avLst/>
          </a:prstGeom>
          <a:solidFill>
            <a:srgbClr val="EF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2B3C"/>
                </a:solidFill>
                <a:latin typeface="Arial"/>
              </a:rPr>
              <a:t>UC001 and UC002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896112"/>
            <a:ext cx="8686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96670"/>
                </a:solidFill>
                <a:latin typeface="Arial"/>
              </a:rPr>
              <a:t>Chặt tài khoản trước, sau đó chuẩn bị ví/gói để thuê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98448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16636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5166360" cy="1097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55648"/>
            <a:ext cx="47640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UC001 Register and Verify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4709160" cy="31546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Actor: Customer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Goal: đăng ký/đăng nhập và xác thực danh tính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Output: account verified, rental eligibility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Exception: OTP sai, giấy tờ không hợp lệ, tài khoản bị khóa/nợ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16636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5166360" cy="109728"/>
          </a:xfrm>
          <a:prstGeom prst="rect">
            <a:avLst/>
          </a:prstGeom>
          <a:solidFill>
            <a:srgbClr val="2A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755648"/>
            <a:ext cx="47640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UC002 Manage Wallet and Rental Packages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4709160" cy="31546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Actors: Customer, Payment Gateway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Goal: nạp ví hoặc mua gói ngày/tháng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Output: ví cập nhật, gói active, payment record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Exception: thanh toán lỗi, gói hết hiệu lực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0"/>
            <a:ext cx="2404872" cy="201168"/>
          </a:xfrm>
          <a:prstGeom prst="rect">
            <a:avLst/>
          </a:prstGeom>
          <a:solidFill>
            <a:srgbClr val="EF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2B3C"/>
                </a:solidFill>
                <a:latin typeface="Arial"/>
              </a:rPr>
              <a:t>UC003 and UC004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896112"/>
            <a:ext cx="8686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96670"/>
                </a:solidFill>
                <a:latin typeface="Arial"/>
              </a:rPr>
              <a:t>Thuê xe theo giờ và settlement sau chuyến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98448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16636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5166360" cy="109728"/>
          </a:xfrm>
          <a:prstGeom prst="rect">
            <a:avLst/>
          </a:prstGeom>
          <a:solidFill>
            <a:srgbClr val="2C9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55648"/>
            <a:ext cx="47640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UC003 Rent Bike by Hour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4709160" cy="31546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Actors: Customer, GPS / Map Service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Goal: tìm xe, kiểm tra ví/gói, mở khóa xe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Output: ride in progress, bike in use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Exception: ví thiếu, còn phạt/nợ, unlock failure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16636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5166360" cy="109728"/>
          </a:xfrm>
          <a:prstGeom prst="rect">
            <a:avLst/>
          </a:prstGeom>
          <a:solidFill>
            <a:srgbClr val="EF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755648"/>
            <a:ext cx="47640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UC004 End Ride and Settle Charges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4709160" cy="31546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Actor: Customer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Goal: kết thúc chuyến và trừ tiền ví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Output: receipt, wallet balance, penalty if any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Exception: trả sai nơi, chưa khóa xe, ví không đủ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0"/>
            <a:ext cx="2404872" cy="201168"/>
          </a:xfrm>
          <a:prstGeom prst="rect">
            <a:avLst/>
          </a:prstGeom>
          <a:solidFill>
            <a:srgbClr val="EF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2B3C"/>
                </a:solidFill>
                <a:latin typeface="Arial"/>
              </a:rPr>
              <a:t>UC005 Resolve Bike Maintenance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896112"/>
            <a:ext cx="8686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96670"/>
                </a:solidFill>
                <a:latin typeface="Arial"/>
              </a:rPr>
              <a:t>Tách Customer report khỏi nghiệp vụ bảo trì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98448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38328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3383280" cy="109728"/>
          </a:xfrm>
          <a:prstGeom prst="rect">
            <a:avLst/>
          </a:prstGeom>
          <a:solidFill>
            <a:srgbClr val="59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18488"/>
            <a:ext cx="298094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292608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Chỉ báo cáo lỗi xe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Báo cáo có thể phát sinh trong UC004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Không trực tiếp sửa hoặc phân công bảo trì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8328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3383280" cy="109728"/>
          </a:xfrm>
          <a:prstGeom prst="rect">
            <a:avLst/>
          </a:prstGeom>
          <a:solidFill>
            <a:srgbClr val="2A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618488"/>
            <a:ext cx="298094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Admin / Operator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03120"/>
            <a:ext cx="292608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Review issue report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Khóa xe khỏi danh sách thuê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Đặt priority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Assign Maintenance Staff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38328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417320"/>
            <a:ext cx="3383280" cy="109728"/>
          </a:xfrm>
          <a:prstGeom prst="rect">
            <a:avLst/>
          </a:prstGeom>
          <a:solidFill>
            <a:srgbClr val="2C9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618488"/>
            <a:ext cx="298094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Maintenance Staff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292608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Nhận việc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Kiểm tra và sửa xe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Ghi repair note</a:t>
            </a:r>
          </a:p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Cập nhật trạng thái xe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5989320"/>
            <a:ext cx="621792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12B3C"/>
                </a:solidFill>
                <a:latin typeface="Arial"/>
              </a:rPr>
              <a:t>UC005 actors = Admin / Operator + Maintenance Staff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0"/>
            <a:ext cx="2404872" cy="201168"/>
          </a:xfrm>
          <a:prstGeom prst="rect">
            <a:avLst/>
          </a:prstGeom>
          <a:solidFill>
            <a:srgbClr val="EF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2B3C"/>
                </a:solidFill>
                <a:latin typeface="Arial"/>
              </a:rPr>
              <a:t>Rules and Penalties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896112"/>
            <a:ext cx="8686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96670"/>
                </a:solidFill>
                <a:latin typeface="Arial"/>
              </a:rPr>
              <a:t>Quy tắc dùng để tính tiền và khóa thuê khi cần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98448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48463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00200"/>
            <a:ext cx="4846320" cy="1097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801368"/>
            <a:ext cx="444398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Rental eligibility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4389120" cy="5029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Account verified, wallet active, no blocking debt/penalty.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600200"/>
            <a:ext cx="48463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600200"/>
            <a:ext cx="4846320" cy="109728"/>
          </a:xfrm>
          <a:prstGeom prst="rect">
            <a:avLst/>
          </a:prstGeom>
          <a:solidFill>
            <a:srgbClr val="2C9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7" y="1801368"/>
            <a:ext cx="444398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Valid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286000"/>
            <a:ext cx="4389120" cy="5029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Bike must be returned to an allowed station/area and locked.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29000"/>
            <a:ext cx="48463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429000"/>
            <a:ext cx="4846320" cy="109728"/>
          </a:xfrm>
          <a:prstGeom prst="rect">
            <a:avLst/>
          </a:prstGeom>
          <a:solidFill>
            <a:srgbClr val="2A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3630168"/>
            <a:ext cx="444398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Package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14800"/>
            <a:ext cx="4389120" cy="5029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Day/month package covers eligible riding time, not penalties.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3429000"/>
            <a:ext cx="48463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3429000"/>
            <a:ext cx="4846320" cy="109728"/>
          </a:xfrm>
          <a:prstGeom prst="rect">
            <a:avLst/>
          </a:prstGeom>
          <a:solidFill>
            <a:srgbClr val="EF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7" y="3630168"/>
            <a:ext cx="444398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2B3C"/>
                </a:solidFill>
                <a:latin typeface="Arial"/>
              </a:rPr>
              <a:t>Penalty cases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4114800"/>
            <a:ext cx="4389120" cy="5029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596670"/>
                </a:solidFill>
                <a:latin typeface="Arial"/>
              </a:defRPr>
            </a:pPr>
            <a:r>
              <a:t>Wrong return area, unlocked bike, damage/loss, overdue debt.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0"/>
            <a:ext cx="2404872" cy="201168"/>
          </a:xfrm>
          <a:prstGeom prst="rect">
            <a:avLst/>
          </a:prstGeom>
          <a:solidFill>
            <a:srgbClr val="EF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2B3C"/>
                </a:solidFill>
                <a:latin typeface="Arial"/>
              </a:rPr>
              <a:t>Presentation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896112"/>
            <a:ext cx="8686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96670"/>
                </a:solidFill>
                <a:latin typeface="Arial"/>
              </a:rPr>
              <a:t>Cách nói ngắn gọn khi trình bày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98448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777240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12B3C"/>
                </a:solidFill>
                <a:latin typeface="Arial"/>
              </a:defRPr>
            </a:pPr>
            <a:r>
              <a:t>Bắt đầu từ model nghiệp vụ: ví trả trước, pass ngày/tháng, thuê theo giờ.</a:t>
            </a:r>
          </a:p>
          <a:p>
            <a:pPr>
              <a:spcAft>
                <a:spcPts val="700"/>
              </a:spcAft>
              <a:defRPr sz="1800">
                <a:solidFill>
                  <a:srgbClr val="112B3C"/>
                </a:solidFill>
                <a:latin typeface="Arial"/>
              </a:defRPr>
            </a:pPr>
            <a:r>
              <a:t>Sau đó đi qua overview UC và nhấn mạnh actor hợp lệ.</a:t>
            </a:r>
          </a:p>
          <a:p>
            <a:pPr>
              <a:spcAft>
                <a:spcPts val="700"/>
              </a:spcAft>
              <a:defRPr sz="1800">
                <a:solidFill>
                  <a:srgbClr val="112B3C"/>
                </a:solidFill>
                <a:latin typeface="Arial"/>
              </a:defRPr>
            </a:pPr>
            <a:r>
              <a:t>Khi nói UC005: Customer chỉ report; Admin và Staff mới xử lý maintenance.</a:t>
            </a:r>
          </a:p>
          <a:p>
            <a:pPr>
              <a:spcAft>
                <a:spcPts val="700"/>
              </a:spcAft>
              <a:defRPr sz="1800">
                <a:solidFill>
                  <a:srgbClr val="112B3C"/>
                </a:solidFill>
                <a:latin typeface="Arial"/>
              </a:defRPr>
            </a:pPr>
            <a:r>
              <a:t>Kết thúc bằng rule/penalty vì đây là điểm khác biệt quan trọng của app thuê xe.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120640"/>
            <a:ext cx="4937760" cy="457200"/>
          </a:xfrm>
          <a:prstGeom prst="round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Use case = goal of actor, not UI click/action step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2B3C"/>
                </a:solidFill>
                <a:latin typeface="Arial"/>
              </a:rPr>
              <a:t>Sub-Use Case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96112"/>
            <a:ext cx="9144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96670"/>
                </a:solidFill>
                <a:latin typeface="Arial"/>
              </a:rPr>
              <a:t>Các UC con là mục tiêu nghiệp vụ nhỏ, không phải từng thao tác UI hay xử lý backend.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07492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074920" cy="914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673351"/>
            <a:ext cx="47457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1">
                <a:solidFill>
                  <a:srgbClr val="112B3C"/>
                </a:solidFill>
                <a:latin typeface="Arial"/>
              </a:rPr>
              <a:t>UC001 Register and Verify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057400"/>
            <a:ext cx="474573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>
                <a:solidFill>
                  <a:srgbClr val="596670"/>
                </a:solidFill>
                <a:latin typeface="Arial"/>
              </a:defRPr>
            </a:pPr>
            <a:r>
              <a:t>Register Customer Account; Verify Contact Method; Submit Identity Verification; Log In Securely; Recover Account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07492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074920" cy="91440"/>
          </a:xfrm>
          <a:prstGeom prst="rect">
            <a:avLst/>
          </a:prstGeom>
          <a:solidFill>
            <a:srgbClr val="2A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673351"/>
            <a:ext cx="47457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1">
                <a:solidFill>
                  <a:srgbClr val="112B3C"/>
                </a:solidFill>
                <a:latin typeface="Arial"/>
              </a:rPr>
              <a:t>UC002 Wallet and 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057400"/>
            <a:ext cx="474573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>
                <a:solidFill>
                  <a:srgbClr val="596670"/>
                </a:solidFill>
                <a:latin typeface="Arial"/>
              </a:defRPr>
            </a:pPr>
            <a:r>
              <a:t>Top Up Wallet; Buy Day Pass; Buy Monthly Pass; View Wallet and Package History; Retry or Cancel Pending Payment.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26080"/>
            <a:ext cx="507492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26080"/>
            <a:ext cx="5074920" cy="91440"/>
          </a:xfrm>
          <a:prstGeom prst="rect">
            <a:avLst/>
          </a:prstGeom>
          <a:solidFill>
            <a:srgbClr val="2C9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3090672"/>
            <a:ext cx="47457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1">
                <a:solidFill>
                  <a:srgbClr val="112B3C"/>
                </a:solidFill>
                <a:latin typeface="Arial"/>
              </a:rPr>
              <a:t>UC003 Rent Bike by Hour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474720"/>
            <a:ext cx="474573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>
                <a:solidFill>
                  <a:srgbClr val="596670"/>
                </a:solidFill>
                <a:latin typeface="Arial"/>
              </a:defRPr>
            </a:pPr>
            <a:r>
              <a:t>Search Available Bikes; Scan Bike QR Code; Start Hourly Ride; Apply Active Package; View Active Ride.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507492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5074920" cy="91440"/>
          </a:xfrm>
          <a:prstGeom prst="rect">
            <a:avLst/>
          </a:prstGeom>
          <a:solidFill>
            <a:srgbClr val="EF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090672"/>
            <a:ext cx="47457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1">
                <a:solidFill>
                  <a:srgbClr val="112B3C"/>
                </a:solidFill>
                <a:latin typeface="Arial"/>
              </a:rPr>
              <a:t>UC004 End Ride and Settle Charges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474720"/>
            <a:ext cx="474573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>
                <a:solidFill>
                  <a:srgbClr val="596670"/>
                </a:solidFill>
                <a:latin typeface="Arial"/>
              </a:defRPr>
            </a:pPr>
            <a:r>
              <a:t>Return Bike; Lock and End Ride; Report Bike Issue; Settle Ride Charge; View Receipt; Pay Outstanding Balance; Dispute Penalty.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43400"/>
            <a:ext cx="507492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343400"/>
            <a:ext cx="5074920" cy="91440"/>
          </a:xfrm>
          <a:prstGeom prst="rect">
            <a:avLst/>
          </a:prstGeom>
          <a:solidFill>
            <a:srgbClr val="C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4507992"/>
            <a:ext cx="47457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1">
                <a:solidFill>
                  <a:srgbClr val="112B3C"/>
                </a:solidFill>
                <a:latin typeface="Arial"/>
              </a:rPr>
              <a:t>UC005 Resolve Maintenance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4892040"/>
            <a:ext cx="474573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>
                <a:solidFill>
                  <a:srgbClr val="596670"/>
                </a:solidFill>
                <a:latin typeface="Arial"/>
              </a:defRPr>
            </a:pPr>
            <a:r>
              <a:t>Review Issue Report; Create or Merge Maintenance Request; Assign Maintenance Task; Update Repair Result; Release or Retire Bike.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